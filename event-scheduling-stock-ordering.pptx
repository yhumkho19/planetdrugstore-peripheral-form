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594360"/>
            <a:ext cx="3566160" cy="5623560"/>
          </a:xfrm>
          <a:prstGeom prst="roundRect">
            <a:avLst>
              <a:gd name="adj" fmla="val 8000"/>
            </a:avLst>
          </a:prstGeom>
          <a:solidFill>
            <a:srgbClr val="263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6035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9AD3C5"/>
                </a:solidFill>
                <a:latin typeface="Aptos"/>
              </a:defRPr>
            </a:pPr>
            <a:r>
              <a:t>OPERATIONS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949440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Event Scheduling</a:t>
            </a:r>
          </a:p>
          <a:p>
            <a:pPr algn="l">
              <a:spcAft>
                <a:spcPts val="2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t>&amp; Stock 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520440"/>
            <a:ext cx="667512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600" b="0" i="0">
                <a:solidFill>
                  <a:srgbClr val="D5DEE4"/>
                </a:solidFill>
                <a:latin typeface="Aptos"/>
              </a:defRPr>
            </a:pPr>
            <a:r>
              <a:t>How teams publish event rosters, claim roles, submit SR#s,</a:t>
            </a:r>
          </a:p>
          <a:p>
            <a:pPr algn="l">
              <a:spcAft>
                <a:spcPts val="200"/>
              </a:spcAft>
              <a:defRPr sz="1600" b="0" i="0">
                <a:solidFill>
                  <a:srgbClr val="D5DEE4"/>
                </a:solidFill>
                <a:latin typeface="Aptos"/>
              </a:defRPr>
            </a:pPr>
            <a:r>
              <a:t>and manage cutoffs.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1508760" cy="274320"/>
          </a:xfrm>
          <a:prstGeom prst="roundRect">
            <a:avLst>
              <a:gd name="adj" fmla="val 8000"/>
            </a:avLst>
          </a:prstGeom>
          <a:solidFill>
            <a:srgbClr val="D8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4901183"/>
            <a:ext cx="1435607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900" b="1" i="0">
                <a:solidFill>
                  <a:srgbClr val="248B7D"/>
                </a:solidFill>
                <a:latin typeface="Aptos"/>
              </a:defRPr>
            </a:pPr>
            <a:r>
              <a:t>EVENT ROSTER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4892040"/>
            <a:ext cx="1691640" cy="274320"/>
          </a:xfrm>
          <a:prstGeom prst="roundRect">
            <a:avLst>
              <a:gd name="adj" fmla="val 8000"/>
            </a:avLst>
          </a:prstGeom>
          <a:solidFill>
            <a:srgbClr val="F5E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9736" y="4901183"/>
            <a:ext cx="161848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900" b="1" i="0">
                <a:solidFill>
                  <a:srgbClr val="76232E"/>
                </a:solidFill>
                <a:latin typeface="Aptos"/>
              </a:defRPr>
            </a:pPr>
            <a:r>
              <a:t>STOCK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960120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9AD3C5"/>
                </a:solidFill>
                <a:latin typeface="Aptos"/>
              </a:defRPr>
            </a:pPr>
            <a:r>
              <a:t>EVENT SCHEDULING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417320"/>
            <a:ext cx="2697480" cy="484632"/>
          </a:xfrm>
          <a:prstGeom prst="roundRect">
            <a:avLst>
              <a:gd name="adj" fmla="val 8000"/>
            </a:avLst>
          </a:prstGeom>
          <a:solidFill>
            <a:srgbClr val="34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40496" y="1554480"/>
            <a:ext cx="182880" cy="182880"/>
          </a:xfrm>
          <a:prstGeom prst="roundRect">
            <a:avLst>
              <a:gd name="adj" fmla="val 8000"/>
            </a:avLst>
          </a:prstGeom>
          <a:solidFill>
            <a:srgbClr val="24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1499616"/>
            <a:ext cx="19659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Prepare roster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2176272"/>
            <a:ext cx="2697480" cy="484632"/>
          </a:xfrm>
          <a:prstGeom prst="roundRect">
            <a:avLst>
              <a:gd name="adj" fmla="val 8000"/>
            </a:avLst>
          </a:prstGeom>
          <a:solidFill>
            <a:srgbClr val="34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0496" y="231343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C9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2258568"/>
            <a:ext cx="19659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935224"/>
            <a:ext cx="2697480" cy="484632"/>
          </a:xfrm>
          <a:prstGeom prst="roundRect">
            <a:avLst>
              <a:gd name="adj" fmla="val 8000"/>
            </a:avLst>
          </a:prstGeom>
          <a:solidFill>
            <a:srgbClr val="34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0496" y="3072384"/>
            <a:ext cx="182880" cy="182880"/>
          </a:xfrm>
          <a:prstGeom prst="roundRect">
            <a:avLst>
              <a:gd name="adj" fmla="val 8000"/>
            </a:avLst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3017520"/>
            <a:ext cx="19659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Employees sign up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41080" y="1901952"/>
            <a:ext cx="0" cy="210312"/>
          </a:xfrm>
          <a:prstGeom prst="line">
            <a:avLst/>
          </a:prstGeom>
          <a:ln w="15240">
            <a:solidFill>
              <a:srgbClr val="7183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641080" y="2660904"/>
            <a:ext cx="0" cy="210312"/>
          </a:xfrm>
          <a:prstGeom prst="line">
            <a:avLst/>
          </a:prstGeom>
          <a:ln w="15240">
            <a:solidFill>
              <a:srgbClr val="7183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94192" y="3858768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F0C779"/>
                </a:solidFill>
                <a:latin typeface="Aptos"/>
              </a:defRPr>
            </a:pPr>
            <a:r>
              <a:t>STOCK ORDERING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4297680"/>
            <a:ext cx="2697480" cy="384048"/>
          </a:xfrm>
          <a:prstGeom prst="roundRect">
            <a:avLst>
              <a:gd name="adj" fmla="val 8000"/>
            </a:avLst>
          </a:prstGeom>
          <a:solidFill>
            <a:srgbClr val="34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40496" y="4398264"/>
            <a:ext cx="164592" cy="164592"/>
          </a:xfrm>
          <a:prstGeom prst="roundRect">
            <a:avLst>
              <a:gd name="adj" fmla="val 8000"/>
            </a:avLst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4334256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200"/>
              </a:spcAft>
              <a:defRPr sz="1230" b="1" i="0">
                <a:solidFill>
                  <a:srgbClr val="FFFFFF"/>
                </a:solidFill>
                <a:latin typeface="Aptos"/>
              </a:defRPr>
            </a:pPr>
            <a:r>
              <a:t>Set days &amp; cutoff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5056632"/>
            <a:ext cx="2697480" cy="384048"/>
          </a:xfrm>
          <a:prstGeom prst="roundRect">
            <a:avLst>
              <a:gd name="adj" fmla="val 8000"/>
            </a:avLst>
          </a:prstGeom>
          <a:solidFill>
            <a:srgbClr val="34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40496" y="51572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24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5093208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200"/>
              </a:spcAft>
              <a:defRPr sz="1230" b="1" i="0">
                <a:solidFill>
                  <a:srgbClr val="FFFFFF"/>
                </a:solidFill>
                <a:latin typeface="Aptos"/>
              </a:defRPr>
            </a:pPr>
            <a:r>
              <a:t>Submit SR#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5815584"/>
            <a:ext cx="2697480" cy="384048"/>
          </a:xfrm>
          <a:prstGeom prst="roundRect">
            <a:avLst>
              <a:gd name="adj" fmla="val 8000"/>
            </a:avLst>
          </a:prstGeom>
          <a:solidFill>
            <a:srgbClr val="34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40496" y="5916168"/>
            <a:ext cx="164592" cy="164592"/>
          </a:xfrm>
          <a:prstGeom prst="roundRect">
            <a:avLst>
              <a:gd name="adj" fmla="val 8000"/>
            </a:avLst>
          </a:prstGeom>
          <a:solidFill>
            <a:srgbClr val="C9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5852160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200"/>
              </a:spcAft>
              <a:defRPr sz="1230" b="1" i="0">
                <a:solidFill>
                  <a:srgbClr val="FFFFFF"/>
                </a:solidFill>
                <a:latin typeface="Aptos"/>
              </a:defRPr>
            </a:pPr>
            <a:r>
              <a:t>Lock / reopen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352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65717D"/>
                </a:solidFill>
                <a:latin typeface="Aptos"/>
              </a:defRPr>
            </a:pPr>
            <a:r>
              <a:t>PLANET DRUGSTORE  /  SYSTEM WALKTHROUGH  /  OCTOBER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7392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00" b="1" i="0">
                <a:solidFill>
                  <a:srgbClr val="76232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248B7D"/>
                </a:solidFill>
                <a:latin typeface="Aptos"/>
              </a:defRPr>
            </a:pPr>
            <a: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700" b="1" i="0">
                <a:solidFill>
                  <a:srgbClr val="202A35"/>
                </a:solidFill>
                <a:latin typeface="Aptos"/>
              </a:defRPr>
            </a:pPr>
            <a:r>
              <a:t>Two workflows, one shared operating rhythm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30" b="0" i="0">
                <a:solidFill>
                  <a:srgbClr val="65717D"/>
                </a:solidFill>
                <a:latin typeface="Aptos"/>
              </a:defRPr>
            </a:pPr>
            <a:r>
              <a:t>Admins configure availability; employees act within the published rules; updates stay visible to both sides.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73152" cy="3401568"/>
          </a:xfrm>
          <a:prstGeom prst="rect">
            <a:avLst/>
          </a:prstGeom>
          <a:solidFill>
            <a:srgbClr val="24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498347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700" b="1" i="0">
                <a:solidFill>
                  <a:srgbClr val="202A35"/>
                </a:solidFill>
                <a:latin typeface="Aptos"/>
              </a:defRPr>
            </a:pPr>
            <a:r>
              <a:t>Event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87752"/>
            <a:ext cx="4965192" cy="2651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300" b="0" i="0">
                <a:solidFill>
                  <a:srgbClr val="65717D"/>
                </a:solidFill>
                <a:latin typeface="Aptos"/>
              </a:defRPr>
            </a:pPr>
            <a:r>
              <a:t>ADMIN / DEPARTMENT LEADS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5717D"/>
                </a:solidFill>
                <a:latin typeface="Aptos"/>
              </a:defRPr>
            </a:pPr>
            <a:r>
              <a:t>Prepare site details, event date and time, staffing roles, and publish the roster.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5717D"/>
                </a:solidFill>
                <a:latin typeface="Aptos"/>
              </a:defRPr>
            </a:pPr>
          </a:p>
          <a:p>
            <a:pPr algn="l">
              <a:spcAft>
                <a:spcPts val="200"/>
              </a:spcAft>
              <a:defRPr sz="1300" b="0" i="0">
                <a:solidFill>
                  <a:srgbClr val="65717D"/>
                </a:solidFill>
                <a:latin typeface="Aptos"/>
              </a:defRPr>
            </a:pPr>
            <a:r>
              <a:t>EMPLOYEES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5717D"/>
                </a:solidFill>
                <a:latin typeface="Aptos"/>
              </a:defRPr>
            </a:pPr>
            <a:r>
              <a:t>Review published sites, claim eligible open slots, and track assignment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965960"/>
            <a:ext cx="534924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965960"/>
            <a:ext cx="73152" cy="3401568"/>
          </a:xfrm>
          <a:prstGeom prst="rect">
            <a:avLst/>
          </a:prstGeom>
          <a:solidFill>
            <a:srgbClr val="76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30552"/>
            <a:ext cx="498347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700" b="1" i="0">
                <a:solidFill>
                  <a:srgbClr val="202A35"/>
                </a:solidFill>
                <a:latin typeface="Aptos"/>
              </a:defRPr>
            </a:pPr>
            <a:r>
              <a:t>Stock ordering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87752"/>
            <a:ext cx="4965192" cy="2651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300" b="0" i="0">
                <a:solidFill>
                  <a:srgbClr val="65717D"/>
                </a:solidFill>
                <a:latin typeface="Aptos"/>
              </a:defRPr>
            </a:pPr>
            <a:r>
              <a:t>STOCK REQUEST ADMIN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5717D"/>
                </a:solidFill>
                <a:latin typeface="Aptos"/>
              </a:defRPr>
            </a:pPr>
            <a:r>
              <a:t>Assign request days, set a cutoff, activate a day, and monitor incoming SR#s.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5717D"/>
                </a:solidFill>
                <a:latin typeface="Aptos"/>
              </a:defRPr>
            </a:pPr>
          </a:p>
          <a:p>
            <a:pPr algn="l">
              <a:spcAft>
                <a:spcPts val="200"/>
              </a:spcAft>
              <a:defRPr sz="1300" b="0" i="0">
                <a:solidFill>
                  <a:srgbClr val="65717D"/>
                </a:solidFill>
                <a:latin typeface="Aptos"/>
              </a:defRPr>
            </a:pPr>
            <a:r>
              <a:t>EMPLOYEES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5717D"/>
                </a:solidFill>
                <a:latin typeface="Aptos"/>
              </a:defRPr>
            </a:pPr>
            <a:r>
              <a:t>Choose an assigned day, submit an SR#, and edit or remove it while the day is open.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596128"/>
            <a:ext cx="11000232" cy="50292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70585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200"/>
              </a:spcAft>
              <a:defRPr sz="1200" b="1" i="0">
                <a:solidFill>
                  <a:srgbClr val="202A35"/>
                </a:solidFill>
                <a:latin typeface="Aptos"/>
              </a:defRPr>
            </a:pPr>
            <a:r>
              <a:t>Shared foundation: role-based pages  •  live Firestore data  •  optional device push notifications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65717D"/>
                </a:solidFill>
                <a:latin typeface="Aptos"/>
              </a:defRPr>
            </a:pPr>
            <a:r>
              <a:t>PLANET DRUGSTORE  /  OPERATIONS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37392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00" b="1" i="0">
                <a:solidFill>
                  <a:srgbClr val="76232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248B7D"/>
                </a:solidFill>
                <a:latin typeface="Aptos"/>
              </a:defRPr>
            </a:pPr>
            <a:r>
              <a:t>01  /  EVENT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700" b="1" i="0">
                <a:solidFill>
                  <a:srgbClr val="202A35"/>
                </a:solidFill>
                <a:latin typeface="Aptos"/>
              </a:defRPr>
            </a:pPr>
            <a:r>
              <a:t>Admin flow: prepare → publish → maintain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30" b="0" i="0">
                <a:solidFill>
                  <a:srgbClr val="65717D"/>
                </a:solidFill>
                <a:latin typeface="Aptos"/>
              </a:defRPr>
            </a:pPr>
            <a:r>
              <a:t>The roster is a draft until the department lead explicitly sends or updates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4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384048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0632"/>
            <a:ext cx="19659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202A35"/>
                </a:solidFill>
                <a:latin typeface="Aptos"/>
              </a:defRPr>
            </a:pPr>
            <a:r>
              <a:t>Build the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27832"/>
            <a:ext cx="1965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65717D"/>
                </a:solidFill>
                <a:latin typeface="Aptos"/>
              </a:defRPr>
            </a:pPr>
            <a:r>
              <a:t>Add date, time, region, event type, and 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05740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85032" y="224028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240280"/>
            <a:ext cx="384048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770632"/>
            <a:ext cx="19659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202A35"/>
                </a:solidFill>
                <a:latin typeface="Aptos"/>
              </a:defRPr>
            </a:pPr>
            <a:r>
              <a:t>Assign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227832"/>
            <a:ext cx="1965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65717D"/>
                </a:solidFill>
                <a:latin typeface="Aptos"/>
              </a:defRPr>
            </a:pPr>
            <a:r>
              <a:t>Fill Event Team and Store Reliever slots.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944" y="205740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92824" y="224028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76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2240280"/>
            <a:ext cx="384048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770632"/>
            <a:ext cx="19659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202A35"/>
                </a:solidFill>
                <a:latin typeface="Aptos"/>
              </a:defRPr>
            </a:pPr>
            <a:r>
              <a:t>Save or Send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227832"/>
            <a:ext cx="1965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65717D"/>
                </a:solidFill>
                <a:latin typeface="Aptos"/>
              </a:defRPr>
            </a:pPr>
            <a:r>
              <a:t>Save a draft, or Send to publish new sites to employees.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17736" y="205740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00615" y="224028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9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0615" y="2240280"/>
            <a:ext cx="384048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5" y="2770632"/>
            <a:ext cx="19659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202A35"/>
                </a:solidFill>
                <a:latin typeface="Aptos"/>
              </a:defRPr>
            </a:pPr>
            <a:r>
              <a:t>Update as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5" y="3227832"/>
            <a:ext cx="1965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65717D"/>
                </a:solidFill>
                <a:latin typeface="Aptos"/>
              </a:defRPr>
            </a:pPr>
            <a:r>
              <a:t>Changes to published rosters sync to employee views.</a:t>
            </a:r>
          </a:p>
        </p:txBody>
      </p:sp>
      <p:sp>
        <p:nvSpPr>
          <p:cNvPr id="25" name="Chevron 24"/>
          <p:cNvSpPr/>
          <p:nvPr/>
        </p:nvSpPr>
        <p:spPr>
          <a:xfrm>
            <a:off x="3054096" y="2880360"/>
            <a:ext cx="310896" cy="256032"/>
          </a:xfrm>
          <a:prstGeom prst="chevron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5961888" y="2880360"/>
            <a:ext cx="310896" cy="256032"/>
          </a:xfrm>
          <a:prstGeom prst="chevron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8869680" y="2880360"/>
            <a:ext cx="310896" cy="256032"/>
          </a:xfrm>
          <a:prstGeom prst="chevron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4407408"/>
            <a:ext cx="11000232" cy="1051560"/>
          </a:xfrm>
          <a:prstGeom prst="roundRect">
            <a:avLst>
              <a:gd name="adj" fmla="val 8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608576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248B7D"/>
                </a:solidFill>
                <a:latin typeface="Aptos"/>
              </a:defRPr>
            </a:pPr>
            <a:r>
              <a:t>Publishing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572000"/>
            <a:ext cx="8302752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200"/>
              </a:spcAft>
              <a:defRPr sz="1300" b="0" i="0">
                <a:solidFill>
                  <a:srgbClr val="202A35"/>
                </a:solidFill>
                <a:latin typeface="Aptos"/>
              </a:defRPr>
            </a:pPr>
            <a:r>
              <a:t>Employees only see the published roster. A saved draft is still admin-side until Send / Update publishes it.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65717D"/>
                </a:solidFill>
                <a:latin typeface="Aptos"/>
              </a:defRPr>
            </a:pPr>
            <a:r>
              <a:t>PLANET DRUGSTORE  /  OPERATIONS WALKTHROUGH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00" b="1" i="0">
                <a:solidFill>
                  <a:srgbClr val="76232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248B7D"/>
                </a:solidFill>
                <a:latin typeface="Aptos"/>
              </a:defRPr>
            </a:pPr>
            <a:r>
              <a:t>01  /  EVENT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700" b="1" i="0">
                <a:solidFill>
                  <a:srgbClr val="202A35"/>
                </a:solidFill>
                <a:latin typeface="Aptos"/>
              </a:defRPr>
            </a:pPr>
            <a:r>
              <a:t>Employee flow: find a site and claim an eligible slot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30" b="0" i="0">
                <a:solidFill>
                  <a:srgbClr val="65717D"/>
                </a:solidFill>
                <a:latin typeface="Aptos"/>
              </a:defRPr>
            </a:pPr>
            <a:r>
              <a:t>The schedule shows published sites, open roles, staffing status, and the employee’s own assignments.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6748272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6748272" cy="457200"/>
          </a:xfrm>
          <a:prstGeom prst="roundRect">
            <a:avLst>
              <a:gd name="adj" fmla="val 8000"/>
            </a:avLst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6217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EVENT SCHEDULE   /   NORTH CALOOCAN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33472"/>
            <a:ext cx="6080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202A35"/>
                </a:solidFill>
                <a:latin typeface="Aptos"/>
              </a:defRPr>
            </a:pPr>
            <a:r>
              <a:t>Medical Mission  •  Health Center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9824" y="2596896"/>
            <a:ext cx="1417320" cy="274320"/>
          </a:xfrm>
          <a:prstGeom prst="roundRect">
            <a:avLst>
              <a:gd name="adj" fmla="val 8000"/>
            </a:avLst>
          </a:prstGeom>
          <a:solidFill>
            <a:srgbClr val="FFF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606039"/>
            <a:ext cx="134416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50" b="1" i="0">
                <a:solidFill>
                  <a:srgbClr val="805A10"/>
                </a:solidFill>
                <a:latin typeface="Aptos"/>
              </a:defRPr>
            </a:pPr>
            <a:r>
              <a:t>2 ROLES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99232"/>
            <a:ext cx="2743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65717D"/>
                </a:solidFill>
                <a:latin typeface="Aptos"/>
              </a:defRPr>
            </a:pPr>
            <a:r>
              <a:t>OCT 22  •  8:00 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" y="3401568"/>
            <a:ext cx="6099048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584448"/>
            <a:ext cx="21031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248B7D"/>
                </a:solidFill>
                <a:latin typeface="Aptos"/>
              </a:defRPr>
            </a:pPr>
            <a:r>
              <a:t>EVENT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68496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202A35"/>
                </a:solidFill>
                <a:latin typeface="Aptos"/>
              </a:defRPr>
            </a:pPr>
            <a:r>
              <a:t>Picker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3941063"/>
            <a:ext cx="685800" cy="274320"/>
          </a:xfrm>
          <a:prstGeom prst="roundRect">
            <a:avLst>
              <a:gd name="adj" fmla="val 8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8296" y="3950207"/>
            <a:ext cx="61264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2F7A53"/>
                </a:solidFill>
                <a:latin typeface="Aptos"/>
              </a:defRPr>
            </a:pPr>
            <a:r>
              <a:t>OPEN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3886200"/>
            <a:ext cx="1554480" cy="411480"/>
          </a:xfrm>
          <a:prstGeom prst="roundRect">
            <a:avLst>
              <a:gd name="adj" fmla="val 8000"/>
            </a:avLst>
          </a:prstGeom>
          <a:solidFill>
            <a:srgbClr val="24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92" y="3941063"/>
            <a:ext cx="140817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2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+ Sign me up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" y="4526280"/>
            <a:ext cx="6099048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690872"/>
            <a:ext cx="21945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76232E"/>
                </a:solidFill>
                <a:latin typeface="Aptos"/>
              </a:defRPr>
            </a:pPr>
            <a:r>
              <a:t>STORE RELIEVER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38344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202A35"/>
                </a:solidFill>
                <a:latin typeface="Aptos"/>
              </a:defRPr>
            </a:pPr>
            <a:r>
              <a:t>Store coverage from assigned time onwards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5010912"/>
            <a:ext cx="1600200" cy="274320"/>
          </a:xfrm>
          <a:prstGeom prst="roundRect">
            <a:avLst>
              <a:gd name="adj" fmla="val 8000"/>
            </a:avLst>
          </a:prstGeom>
          <a:solidFill>
            <a:srgbClr val="F9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8616" y="5020056"/>
            <a:ext cx="152704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76232E"/>
                </a:solidFill>
                <a:latin typeface="Aptos"/>
              </a:defRPr>
            </a:pPr>
            <a:r>
              <a:t>ROLE-RESTRICTED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9612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1">
                <a:solidFill>
                  <a:srgbClr val="65717D"/>
                </a:solidFill>
                <a:latin typeface="Aptos"/>
              </a:defRPr>
            </a:pPr>
            <a:r>
              <a:t>Department rules control which slots an employee can claim.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1874519"/>
            <a:ext cx="3959352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1874519"/>
            <a:ext cx="73152" cy="1115568"/>
          </a:xfrm>
          <a:prstGeom prst="rect">
            <a:avLst/>
          </a:prstGeom>
          <a:solidFill>
            <a:srgbClr val="24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2039112"/>
            <a:ext cx="35935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202A35"/>
                </a:solidFill>
                <a:latin typeface="Aptos"/>
              </a:defRPr>
            </a:pPr>
            <a:r>
              <a:t>1.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2496312"/>
            <a:ext cx="357530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65717D"/>
                </a:solidFill>
                <a:latin typeface="Aptos"/>
              </a:defRPr>
            </a:pPr>
            <a:r>
              <a:t>Filter by region and inspect site details.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3227832"/>
            <a:ext cx="3959352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35240" y="3227832"/>
            <a:ext cx="73152" cy="1115568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3392424"/>
            <a:ext cx="35935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202A35"/>
                </a:solidFill>
                <a:latin typeface="Aptos"/>
              </a:defRPr>
            </a:pPr>
            <a:r>
              <a:t>2. Sign 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3849624"/>
            <a:ext cx="357530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65717D"/>
                </a:solidFill>
                <a:latin typeface="Aptos"/>
              </a:defRPr>
            </a:pPr>
            <a:r>
              <a:t>Claim an open role allowed for your department.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4581144"/>
            <a:ext cx="3959352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240" y="4581144"/>
            <a:ext cx="73152" cy="1115568"/>
          </a:xfrm>
          <a:prstGeom prst="rect">
            <a:avLst/>
          </a:prstGeom>
          <a:solidFill>
            <a:srgbClr val="76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36408" y="4745736"/>
            <a:ext cx="35935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202A35"/>
                </a:solidFill>
                <a:latin typeface="Aptos"/>
              </a:defRPr>
            </a:pPr>
            <a:r>
              <a:t>3. Track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6408" y="5202936"/>
            <a:ext cx="357530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65717D"/>
                </a:solidFill>
                <a:latin typeface="Aptos"/>
              </a:defRPr>
            </a:pPr>
            <a:r>
              <a:t>Assignment, cancellation, and schedule-change notices appear in the app.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352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65717D"/>
                </a:solidFill>
                <a:latin typeface="Aptos"/>
              </a:defRPr>
            </a:pPr>
            <a:r>
              <a:t>PLANET DRUGSTORE  /  OPERATIONS WALKTHROUGH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00" b="1" i="0">
                <a:solidFill>
                  <a:srgbClr val="76232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248B7D"/>
                </a:solidFill>
                <a:latin typeface="Aptos"/>
              </a:defRPr>
            </a:pPr>
            <a:r>
              <a:t>01  /  EVENT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700" b="1" i="0">
                <a:solidFill>
                  <a:srgbClr val="202A35"/>
                </a:solidFill>
                <a:latin typeface="Aptos"/>
              </a:defRPr>
            </a:pPr>
            <a:r>
              <a:t>Keep the roster accurate as plans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30" b="0" i="0">
                <a:solidFill>
                  <a:srgbClr val="65717D"/>
                </a:solidFill>
                <a:latin typeface="Aptos"/>
              </a:defRPr>
            </a:pPr>
            <a:r>
              <a:t>The roster is designed for one ticket per site, clear role coverage, and visible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3493008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3493008" cy="128016"/>
          </a:xfrm>
          <a:prstGeom prst="rect">
            <a:avLst/>
          </a:prstGeom>
          <a:solidFill>
            <a:srgbClr val="24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30175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700" b="1" i="0">
                <a:solidFill>
                  <a:srgbClr val="202A35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880360"/>
            <a:ext cx="2971800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Sites</a:t>
            </a:r>
          </a:p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Unfilled roles</a:t>
            </a:r>
          </a:p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Fully staffed sites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0392" y="4315968"/>
            <a:ext cx="2926080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0392" y="4526280"/>
            <a:ext cx="2971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50" b="0" i="0">
                <a:solidFill>
                  <a:srgbClr val="65717D"/>
                </a:solidFill>
                <a:latin typeface="Aptos"/>
              </a:defRPr>
            </a:pPr>
            <a:r>
              <a:t>Use the roster summary to spot staffing gaps before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493008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965960"/>
            <a:ext cx="3493008" cy="128016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04288"/>
            <a:ext cx="30175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700" b="1" i="0">
                <a:solidFill>
                  <a:srgbClr val="202A35"/>
                </a:solidFill>
                <a:latin typeface="Aptos"/>
              </a:defRPr>
            </a:pPr>
            <a:r>
              <a:t>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880360"/>
            <a:ext cx="2971800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Date / time updates</a:t>
            </a:r>
          </a:p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Site and role updates</a:t>
            </a:r>
          </a:p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Cancel / reinstate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99432" y="4315968"/>
            <a:ext cx="2926080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99432" y="4526280"/>
            <a:ext cx="2971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50" b="0" i="0">
                <a:solidFill>
                  <a:srgbClr val="65717D"/>
                </a:solidFill>
                <a:latin typeface="Aptos"/>
              </a:defRPr>
            </a:pPr>
            <a:r>
              <a:t>Published changes flow to employees; affected people receive notices.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65960"/>
            <a:ext cx="3493008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965960"/>
            <a:ext cx="3493008" cy="128016"/>
          </a:xfrm>
          <a:prstGeom prst="rect">
            <a:avLst/>
          </a:prstGeom>
          <a:solidFill>
            <a:srgbClr val="76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304288"/>
            <a:ext cx="30175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700" b="1" i="0">
                <a:solidFill>
                  <a:srgbClr val="202A35"/>
                </a:solidFill>
                <a:latin typeface="Aptos"/>
              </a:defRPr>
            </a:pPr>
            <a:r>
              <a:t>Employee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880360"/>
            <a:ext cx="2971800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Claim open slots</a:t>
            </a:r>
          </a:p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Leave a slot</a:t>
            </a:r>
          </a:p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Review notifications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48471" y="4315968"/>
            <a:ext cx="2926081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48471" y="4526280"/>
            <a:ext cx="29718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50" b="0" i="0">
                <a:solidFill>
                  <a:srgbClr val="65717D"/>
                </a:solidFill>
                <a:latin typeface="Aptos"/>
              </a:defRPr>
            </a:pPr>
            <a:r>
              <a:t>Role restrictions prevent employees from claiming incompatible slots.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596128"/>
            <a:ext cx="10991088" cy="475488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200"/>
              </a:spcAft>
              <a:defRPr sz="1180" b="1" i="0">
                <a:solidFill>
                  <a:srgbClr val="202A35"/>
                </a:solidFill>
                <a:latin typeface="Aptos"/>
              </a:defRPr>
            </a:pPr>
            <a:r>
              <a:t>Operational cue: check “Unfilled roles” before Send, and re-check after last-minute changes.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65717D"/>
                </a:solidFill>
                <a:latin typeface="Aptos"/>
              </a:defRPr>
            </a:pPr>
            <a:r>
              <a:t>PLANET DRUGSTORE  /  OPERATIONS WALKTHROUGH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00" b="1" i="0">
                <a:solidFill>
                  <a:srgbClr val="76232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248B7D"/>
                </a:solidFill>
                <a:latin typeface="Aptos"/>
              </a:defRPr>
            </a:pPr>
            <a:r>
              <a:t>02  /  STOCK ORDERING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700" b="1" i="0">
                <a:solidFill>
                  <a:srgbClr val="202A35"/>
                </a:solidFill>
                <a:latin typeface="Aptos"/>
              </a:defRPr>
            </a:pPr>
            <a:r>
              <a:t>A controlled request window for each ordering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30" b="0" i="0">
                <a:solidFill>
                  <a:srgbClr val="65717D"/>
                </a:solidFill>
                <a:latin typeface="Aptos"/>
              </a:defRPr>
            </a:pPr>
            <a:r>
              <a:t>The admin opens a day and sets the cutoff; eligible employees submit SR#s before it locks.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84831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677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4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67712"/>
            <a:ext cx="384048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98063"/>
            <a:ext cx="210312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202A35"/>
                </a:solidFill>
                <a:latin typeface="Aptos"/>
              </a:defRPr>
            </a:pPr>
            <a:r>
              <a:t>Assign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55263"/>
            <a:ext cx="2103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65717D"/>
                </a:solidFill>
                <a:latin typeface="Aptos"/>
              </a:defRPr>
            </a:pPr>
            <a:r>
              <a:t>Admin sets which weekdays each employee may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084831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0168" y="22677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267712"/>
            <a:ext cx="384048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798063"/>
            <a:ext cx="210312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202A35"/>
                </a:solidFill>
                <a:latin typeface="Aptos"/>
              </a:defRPr>
            </a:pPr>
            <a:r>
              <a:t>Open the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255263"/>
            <a:ext cx="2103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65717D"/>
                </a:solidFill>
                <a:latin typeface="Aptos"/>
              </a:defRPr>
            </a:pPr>
            <a:r>
              <a:t>Admin confirms the date and cutoff, then activates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2084831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83096" y="22677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76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2267712"/>
            <a:ext cx="384048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798063"/>
            <a:ext cx="210312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202A35"/>
                </a:solidFill>
                <a:latin typeface="Aptos"/>
              </a:defRPr>
            </a:pPr>
            <a:r>
              <a:t>Submit SR#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255263"/>
            <a:ext cx="2103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65717D"/>
                </a:solidFill>
                <a:latin typeface="Aptos"/>
              </a:defRPr>
            </a:pPr>
            <a:r>
              <a:t>Employee enters one or more numeric SR#s.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2084831"/>
            <a:ext cx="2468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36024" y="226771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9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6024" y="2267712"/>
            <a:ext cx="384048" cy="38404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798063"/>
            <a:ext cx="210312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202A35"/>
                </a:solidFill>
                <a:latin typeface="Aptos"/>
              </a:defRPr>
            </a:pPr>
            <a:r>
              <a:t>Review &amp; 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3255263"/>
            <a:ext cx="21031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65717D"/>
                </a:solidFill>
                <a:latin typeface="Aptos"/>
              </a:defRPr>
            </a:pPr>
            <a:r>
              <a:t>Admin monitors requests; cutoff closes editing.</a:t>
            </a:r>
          </a:p>
        </p:txBody>
      </p:sp>
      <p:sp>
        <p:nvSpPr>
          <p:cNvPr id="25" name="Chevron 24"/>
          <p:cNvSpPr/>
          <p:nvPr/>
        </p:nvSpPr>
        <p:spPr>
          <a:xfrm>
            <a:off x="3136392" y="2916936"/>
            <a:ext cx="310896" cy="256032"/>
          </a:xfrm>
          <a:prstGeom prst="chevron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5989320" y="2916936"/>
            <a:ext cx="310896" cy="256032"/>
          </a:xfrm>
          <a:prstGeom prst="chevron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8842248" y="2916936"/>
            <a:ext cx="310896" cy="256032"/>
          </a:xfrm>
          <a:prstGeom prst="chevron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4434840"/>
            <a:ext cx="11000232" cy="1033271"/>
          </a:xfrm>
          <a:prstGeom prst="roundRect">
            <a:avLst>
              <a:gd name="adj" fmla="val 8000"/>
            </a:avLst>
          </a:prstGeom>
          <a:solidFill>
            <a:srgbClr val="F4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645152"/>
            <a:ext cx="1920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76232E"/>
                </a:solidFill>
                <a:latin typeface="Aptos"/>
              </a:defRPr>
            </a:pPr>
            <a:r>
              <a:t>Who can request?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636008"/>
            <a:ext cx="53949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202A35"/>
                </a:solidFill>
                <a:latin typeface="Aptos"/>
              </a:defRPr>
            </a:pPr>
            <a:r>
              <a:t>Billing  •  Pharmacist  •  Pharmacy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663440"/>
            <a:ext cx="3063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1080" b="0" i="1">
                <a:solidFill>
                  <a:srgbClr val="65717D"/>
                </a:solidFill>
                <a:latin typeface="Aptos"/>
              </a:defRPr>
            </a:pPr>
            <a:r>
              <a:t>Branch does not change this base eligibility.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0352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65717D"/>
                </a:solidFill>
                <a:latin typeface="Aptos"/>
              </a:defRPr>
            </a:pPr>
            <a:r>
              <a:t>PLANET DRUGSTORE  /  OPERATIONS WALKTHROUGH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37392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00" b="1" i="0">
                <a:solidFill>
                  <a:srgbClr val="76232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248B7D"/>
                </a:solidFill>
                <a:latin typeface="Aptos"/>
              </a:defRPr>
            </a:pPr>
            <a:r>
              <a:t>02  /  STOCK ORDERING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700" b="1" i="0">
                <a:solidFill>
                  <a:srgbClr val="202A35"/>
                </a:solidFill>
                <a:latin typeface="Aptos"/>
              </a:defRPr>
            </a:pPr>
            <a:r>
              <a:t>Admin setup: eligibility, cutoff, and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30" b="0" i="0">
                <a:solidFill>
                  <a:srgbClr val="65717D"/>
                </a:solidFill>
                <a:latin typeface="Aptos"/>
              </a:defRPr>
            </a:pPr>
            <a:r>
              <a:t>Changes are staged and require confirmation before they are saved.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65836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6583680" cy="438912"/>
          </a:xfrm>
          <a:prstGeom prst="roundRect">
            <a:avLst>
              <a:gd name="adj" fmla="val 8000"/>
            </a:avLst>
          </a:prstGeom>
          <a:solidFill>
            <a:srgbClr val="20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75104"/>
            <a:ext cx="6035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STOCK REQUEST ADMIN  /  THURSDAY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202A35"/>
                </a:solidFill>
                <a:latin typeface="Aptos"/>
              </a:defRPr>
            </a:pPr>
            <a:r>
              <a:t>Employee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18288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65717D"/>
                </a:solidFill>
                <a:latin typeface="Aptos"/>
              </a:defRPr>
            </a:pPr>
            <a:r>
              <a:t>Employee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035808"/>
            <a:ext cx="37947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65717D"/>
                </a:solidFill>
                <a:latin typeface="Aptos"/>
              </a:defRPr>
            </a:pPr>
            <a:r>
              <a:t>MON   TUE   WED   THU   FRI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337560"/>
            <a:ext cx="6007608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520440"/>
            <a:ext cx="17373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202A35"/>
                </a:solidFill>
                <a:latin typeface="Aptos"/>
              </a:defRPr>
            </a:pPr>
            <a:r>
              <a:t>A. Santos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493008"/>
            <a:ext cx="374903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248B7D"/>
                </a:solidFill>
                <a:latin typeface="Aptos"/>
              </a:defRPr>
            </a:pPr>
            <a:r>
              <a:t>☑      ☐      ☑      ☑      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13632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1" i="0">
                <a:solidFill>
                  <a:srgbClr val="D79A2B"/>
                </a:solidFill>
                <a:latin typeface="Aptos"/>
              </a:defRPr>
            </a:pPr>
            <a:r>
              <a:t>Pending day edits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877056"/>
            <a:ext cx="868680" cy="274320"/>
          </a:xfrm>
          <a:prstGeom prst="roundRect">
            <a:avLst>
              <a:gd name="adj" fmla="val 8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8616" y="3886200"/>
            <a:ext cx="79552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2F7A53"/>
                </a:solidFill>
                <a:latin typeface="Aptos"/>
              </a:defRPr>
            </a:pPr>
            <a:r>
              <a:t>CONFIRM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877056"/>
            <a:ext cx="777240" cy="274320"/>
          </a:xfrm>
          <a:prstGeom prst="roundRect">
            <a:avLst>
              <a:gd name="adj" fmla="val 8000"/>
            </a:avLst>
          </a:prstGeom>
          <a:solidFill>
            <a:srgbClr val="F9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8736" y="3886200"/>
            <a:ext cx="70408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76232E"/>
                </a:solidFill>
                <a:latin typeface="Aptos"/>
              </a:defRPr>
            </a:pPr>
            <a:r>
              <a:t>CANCEL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370832"/>
            <a:ext cx="6007608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590288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Cutoff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38528" y="4562856"/>
            <a:ext cx="960120" cy="27432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75104" y="4572000"/>
            <a:ext cx="88696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1000" b="1" i="0">
                <a:solidFill>
                  <a:srgbClr val="202A35"/>
                </a:solidFill>
                <a:latin typeface="Aptos"/>
              </a:defRPr>
            </a:pPr>
            <a:r>
              <a:t>2:00 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4562856"/>
            <a:ext cx="1554480" cy="274320"/>
          </a:xfrm>
          <a:prstGeom prst="roundRect">
            <a:avLst>
              <a:gd name="adj" fmla="val 8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9816" y="4572000"/>
            <a:ext cx="148132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2F7A53"/>
                </a:solidFill>
                <a:latin typeface="Aptos"/>
              </a:defRPr>
            </a:pPr>
            <a:r>
              <a:t>CONFIRM CUTOFF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01184" y="4562856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76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4572000"/>
            <a:ext cx="129844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ACTIVATE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5669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70" b="0" i="1">
                <a:solidFill>
                  <a:srgbClr val="65717D"/>
                </a:solidFill>
                <a:latin typeface="Aptos"/>
              </a:defRPr>
            </a:pPr>
            <a:r>
              <a:t>Activation and deactivation each ask for confirmation.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79792" y="1874519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79792" y="1874519"/>
            <a:ext cx="73152" cy="1078992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2039112"/>
            <a:ext cx="374903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202A35"/>
                </a:solidFill>
                <a:latin typeface="Aptos"/>
              </a:defRPr>
            </a:pPr>
            <a:r>
              <a:t>Unset schedule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496312"/>
            <a:ext cx="37307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65717D"/>
                </a:solidFill>
                <a:latin typeface="Aptos"/>
              </a:defRPr>
            </a:pPr>
            <a:r>
              <a:t>No requestDays field means all weekdays are allowed. An empty list means none.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79792" y="3218688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79792" y="3218688"/>
            <a:ext cx="73152" cy="1078992"/>
          </a:xfrm>
          <a:prstGeom prst="rect">
            <a:avLst/>
          </a:prstGeom>
          <a:solidFill>
            <a:srgbClr val="24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3383280"/>
            <a:ext cx="374903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202A35"/>
                </a:solidFill>
                <a:latin typeface="Aptos"/>
              </a:defRPr>
            </a:pPr>
            <a:r>
              <a:t>Live request 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840480"/>
            <a:ext cx="37307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65717D"/>
                </a:solidFill>
                <a:latin typeface="Aptos"/>
              </a:defRPr>
            </a:pPr>
            <a:r>
              <a:t>New employee SR#s appear in the admin list and can be filtered by branch.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9792" y="4562856"/>
            <a:ext cx="41148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79792" y="4562856"/>
            <a:ext cx="73152" cy="1078992"/>
          </a:xfrm>
          <a:prstGeom prst="rect">
            <a:avLst/>
          </a:prstGeom>
          <a:solidFill>
            <a:srgbClr val="76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4727448"/>
            <a:ext cx="374903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202A35"/>
                </a:solidFill>
                <a:latin typeface="Aptos"/>
              </a:defRPr>
            </a:pPr>
            <a:r>
              <a:t>History &amp; cleanup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5184648"/>
            <a:ext cx="37307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65717D"/>
                </a:solidFill>
                <a:latin typeface="Aptos"/>
              </a:defRPr>
            </a:pPr>
            <a:r>
              <a:t>Completed, removed, and archived SR#s remain searchable in History.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65717D"/>
                </a:solidFill>
                <a:latin typeface="Aptos"/>
              </a:defRPr>
            </a:pPr>
            <a:r>
              <a:t>PLANET DRUGSTORE  /  OPERATIONS WALKTHROUGH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37392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00" b="1" i="0">
                <a:solidFill>
                  <a:srgbClr val="76232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248B7D"/>
                </a:solidFill>
                <a:latin typeface="Aptos"/>
              </a:defRPr>
            </a:pPr>
            <a:r>
              <a:t>02  /  STOCK ORDERING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700" b="1" i="0">
                <a:solidFill>
                  <a:srgbClr val="202A35"/>
                </a:solidFill>
                <a:latin typeface="Aptos"/>
              </a:defRPr>
            </a:pPr>
            <a:r>
              <a:t>Employee flow: enter, update, or remove an SR#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30" b="0" i="0">
                <a:solidFill>
                  <a:srgbClr val="65717D"/>
                </a:solidFill>
                <a:latin typeface="Aptos"/>
              </a:defRPr>
            </a:pPr>
            <a:r>
              <a:t>A request can be changed only while its day is active, assigned to the employee, and before cutoff.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5897880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897880" cy="457200"/>
          </a:xfrm>
          <a:prstGeom prst="roundRect">
            <a:avLst>
              <a:gd name="adj" fmla="val 8000"/>
            </a:avLst>
          </a:prstGeom>
          <a:solidFill>
            <a:srgbClr val="76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38528"/>
            <a:ext cx="53949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EMPLOYEE STOCK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657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700" b="1" i="0">
                <a:solidFill>
                  <a:srgbClr val="202A35"/>
                </a:solidFill>
                <a:latin typeface="Aptos"/>
              </a:defRPr>
            </a:pPr>
            <a:r>
              <a:t>Thursday, October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99232"/>
            <a:ext cx="1645920" cy="274320"/>
          </a:xfrm>
          <a:prstGeom prst="roundRect">
            <a:avLst>
              <a:gd name="adj" fmla="val 8000"/>
            </a:avLst>
          </a:prstGeom>
          <a:solidFill>
            <a:srgbClr val="E4F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008375"/>
            <a:ext cx="157276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50" b="1" i="0">
                <a:solidFill>
                  <a:srgbClr val="2F7A53"/>
                </a:solidFill>
                <a:latin typeface="Aptos"/>
              </a:defRPr>
            </a:pPr>
            <a:r>
              <a:t>OPEN UNTIL 2:00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65717D"/>
                </a:solidFill>
                <a:latin typeface="Aptos"/>
              </a:defRPr>
            </a:pPr>
            <a:r>
              <a:t>SR#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13632"/>
            <a:ext cx="5212080" cy="512064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41648"/>
            <a:ext cx="4480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202A35"/>
                </a:solidFill>
                <a:latin typeface="Aptos"/>
              </a:defRPr>
            </a:pPr>
            <a:r>
              <a:t>10452, 10487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27448"/>
            <a:ext cx="1554480" cy="274320"/>
          </a:xfrm>
          <a:prstGeom prst="roundRect">
            <a:avLst>
              <a:gd name="adj" fmla="val 8000"/>
            </a:avLst>
          </a:prstGeom>
          <a:solidFill>
            <a:srgbClr val="76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736592"/>
            <a:ext cx="148132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UPDATE 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4727448"/>
            <a:ext cx="960120" cy="274320"/>
          </a:xfrm>
          <a:prstGeom prst="roundRect">
            <a:avLst>
              <a:gd name="adj" fmla="val 8000"/>
            </a:avLst>
          </a:prstGeom>
          <a:solidFill>
            <a:srgbClr val="F9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4736592"/>
            <a:ext cx="886968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C94750"/>
                </a:solidFill>
                <a:latin typeface="Aptos"/>
              </a:defRPr>
            </a:pPr>
            <a:r>
              <a:t>REMOVE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51663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50" b="0" i="1">
                <a:solidFill>
                  <a:srgbClr val="65717D"/>
                </a:solidFill>
                <a:latin typeface="Aptos"/>
              </a:defRPr>
            </a:pPr>
            <a:r>
              <a:t>If an SR# was already submitted, a reason is required for edits.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39712" y="182880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39712" y="1828800"/>
            <a:ext cx="73152" cy="1097280"/>
          </a:xfrm>
          <a:prstGeom prst="rect">
            <a:avLst/>
          </a:prstGeom>
          <a:solidFill>
            <a:srgbClr val="24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993392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202A35"/>
                </a:solidFill>
                <a:latin typeface="Aptos"/>
              </a:defRPr>
            </a:pPr>
            <a:r>
              <a:t>Before cutoff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450592"/>
            <a:ext cx="43708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40" b="0" i="0">
                <a:solidFill>
                  <a:srgbClr val="65717D"/>
                </a:solidFill>
                <a:latin typeface="Aptos"/>
              </a:defRPr>
            </a:pPr>
            <a:r>
              <a:t>Submit, edit, or remove your request on an active day assigned to you.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39712" y="3182112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39712" y="3182112"/>
            <a:ext cx="73152" cy="1097280"/>
          </a:xfrm>
          <a:prstGeom prst="rect">
            <a:avLst/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3346704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202A35"/>
                </a:solidFill>
                <a:latin typeface="Aptos"/>
              </a:defRPr>
            </a:pPr>
            <a:r>
              <a:t>At cutoff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803904"/>
            <a:ext cx="43708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40" b="0" i="0">
                <a:solidFill>
                  <a:srgbClr val="65717D"/>
                </a:solidFill>
                <a:latin typeface="Aptos"/>
              </a:defRPr>
            </a:pPr>
            <a:r>
              <a:t>The day locks; an existing SR# shows Completed and can no longer be edited.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39712" y="4535424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39712" y="4535424"/>
            <a:ext cx="73152" cy="1097280"/>
          </a:xfrm>
          <a:prstGeom prst="rect">
            <a:avLst/>
          </a:prstGeom>
          <a:solidFill>
            <a:srgbClr val="76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4700016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202A35"/>
                </a:solidFill>
                <a:latin typeface="Aptos"/>
              </a:defRPr>
            </a:pPr>
            <a:r>
              <a:t>If reopened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157216"/>
            <a:ext cx="43708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40" b="0" i="0">
                <a:solidFill>
                  <a:srgbClr val="65717D"/>
                </a:solidFill>
                <a:latin typeface="Aptos"/>
              </a:defRPr>
            </a:pPr>
            <a:r>
              <a:t>When admin moves cutoff into the future, open-day SR# status returns to Pending.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65717D"/>
                </a:solidFill>
                <a:latin typeface="Aptos"/>
              </a:defRPr>
            </a:pPr>
            <a:r>
              <a:t>PLANET DRUGSTORE  /  OPERATIONS WALKTHROUGH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00" b="1" i="0">
                <a:solidFill>
                  <a:srgbClr val="76232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248B7D"/>
                </a:solidFill>
                <a:latin typeface="Aptos"/>
              </a:defRPr>
            </a:pPr>
            <a:r>
              <a:t>02  /  STOCK ORDERING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700" b="1" i="0">
                <a:solidFill>
                  <a:srgbClr val="202A35"/>
                </a:solidFill>
                <a:latin typeface="Aptos"/>
              </a:defRPr>
            </a:pPr>
            <a:r>
              <a:t>Cutoff scenarios: normal close, early close, reopen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30" b="0" i="0">
                <a:solidFill>
                  <a:srgbClr val="65717D"/>
                </a:solidFill>
                <a:latin typeface="Aptos"/>
              </a:defRPr>
            </a:pPr>
            <a:r>
              <a:t>The day-level state controls whether the employee form is open; the admin’s action determines the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93392"/>
            <a:ext cx="3493008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3816" y="2249424"/>
            <a:ext cx="1508760" cy="274320"/>
          </a:xfrm>
          <a:prstGeom prst="roundRect">
            <a:avLst>
              <a:gd name="adj" fmla="val 8000"/>
            </a:avLst>
          </a:prstGeom>
          <a:solidFill>
            <a:srgbClr val="248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258568"/>
            <a:ext cx="1435607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NORMAL CUTOFF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779776"/>
            <a:ext cx="2971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700" b="1" i="0">
                <a:solidFill>
                  <a:srgbClr val="202A35"/>
                </a:solidFill>
                <a:latin typeface="Aptos"/>
              </a:defRPr>
            </a:pPr>
            <a:r>
              <a:t>2:00 PM arrives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3816" y="3611880"/>
            <a:ext cx="2980944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3822191"/>
            <a:ext cx="297180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70" b="0" i="0">
                <a:solidFill>
                  <a:srgbClr val="65717D"/>
                </a:solidFill>
                <a:latin typeface="Aptos"/>
              </a:defRPr>
            </a:pPr>
            <a:r>
              <a:t>Day closes automatically. Existing requests become Completed; editing/removal locks.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93392"/>
            <a:ext cx="3493008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2856" y="2249424"/>
            <a:ext cx="1508760" cy="274320"/>
          </a:xfrm>
          <a:prstGeom prst="roundRect">
            <a:avLst>
              <a:gd name="adj" fmla="val 8000"/>
            </a:avLst>
          </a:prstGeom>
          <a:solidFill>
            <a:srgbClr val="C9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258568"/>
            <a:ext cx="1435607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FFFFFF"/>
                </a:solidFill>
                <a:latin typeface="Aptos"/>
              </a:defRPr>
            </a:pPr>
            <a:r>
              <a:t>CLOSE EARLY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779776"/>
            <a:ext cx="2971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700" b="1" i="0">
                <a:solidFill>
                  <a:srgbClr val="202A35"/>
                </a:solidFill>
                <a:latin typeface="Aptos"/>
              </a:defRPr>
            </a:pPr>
            <a:r>
              <a:t>Admin deactivates at 12:00 PM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62856" y="3611880"/>
            <a:ext cx="2980944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62856" y="3822191"/>
            <a:ext cx="297180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70" b="0" i="0">
                <a:solidFill>
                  <a:srgbClr val="65717D"/>
                </a:solidFill>
                <a:latin typeface="Aptos"/>
              </a:defRPr>
            </a:pPr>
            <a:r>
              <a:t>Employees see “Stock request closed early.” The day shows Closed early / Completed.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93392"/>
            <a:ext cx="3493008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11896" y="2249424"/>
            <a:ext cx="1508760" cy="274320"/>
          </a:xfrm>
          <a:prstGeom prst="roundRect">
            <a:avLst>
              <a:gd name="adj" fmla="val 8000"/>
            </a:avLst>
          </a:prstGeom>
          <a:solidFill>
            <a:srgbClr val="D7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2258568"/>
            <a:ext cx="1435607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202A35"/>
                </a:solidFill>
                <a:latin typeface="Aptos"/>
              </a:defRPr>
            </a:pPr>
            <a:r>
              <a:t>UNCLOSE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779776"/>
            <a:ext cx="2971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700" b="1" i="0">
                <a:solidFill>
                  <a:srgbClr val="202A35"/>
                </a:solidFill>
                <a:latin typeface="Aptos"/>
              </a:defRPr>
            </a:pPr>
            <a:r>
              <a:t>Admin sets a future cutoff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11896" y="3611880"/>
            <a:ext cx="2980944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11896" y="3822191"/>
            <a:ext cx="297180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70" b="0" i="0">
                <a:solidFill>
                  <a:srgbClr val="65717D"/>
                </a:solidFill>
                <a:latin typeface="Aptos"/>
              </a:defRPr>
            </a:pPr>
            <a:r>
              <a:t>Employees are told SR# entry/editing is open again. Eligible requests return to Pending.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559552"/>
            <a:ext cx="10991088" cy="530352"/>
          </a:xfrm>
          <a:prstGeom prst="roundRect">
            <a:avLst>
              <a:gd name="adj" fmla="val 8000"/>
            </a:avLst>
          </a:prstGeom>
          <a:solidFill>
            <a:srgbClr val="FFF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78424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200"/>
              </a:spcAft>
              <a:defRPr sz="1080" b="1" i="0">
                <a:solidFill>
                  <a:srgbClr val="202A35"/>
                </a:solidFill>
                <a:latin typeface="Aptos"/>
              </a:defRPr>
            </a:pPr>
            <a:r>
              <a:t>Push delivery: cutoff reminders are checked every 5 minutes; device push must be enabled. The in-page lock state updates live.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65717D"/>
                </a:solidFill>
                <a:latin typeface="Aptos"/>
              </a:defRPr>
            </a:pPr>
            <a:r>
              <a:t>PLANET DRUGSTORE  /  OPERATIONS WALKTHROUGH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00" b="1" i="0">
                <a:solidFill>
                  <a:srgbClr val="76232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248B7D"/>
                </a:solidFill>
                <a:latin typeface="Aptos"/>
              </a:defRPr>
            </a:pPr>
            <a:r>
              <a:t>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2700" b="1" i="0">
                <a:solidFill>
                  <a:srgbClr val="202A35"/>
                </a:solidFill>
                <a:latin typeface="Aptos"/>
              </a:defRPr>
            </a:pPr>
            <a:r>
              <a:t>Where to go and what to confirm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34440"/>
            <a:ext cx="109728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30" b="0" i="0">
                <a:solidFill>
                  <a:srgbClr val="65717D"/>
                </a:solidFill>
                <a:latin typeface="Aptos"/>
              </a:defRPr>
            </a:pPr>
            <a:r>
              <a:t>Use the role-specific pages; each device must opt in separately for phone push notifications.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248B7D"/>
                </a:solidFill>
                <a:latin typeface="Aptos"/>
              </a:defRPr>
            </a:pPr>
            <a:r>
              <a:t>EVENT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50" b="1" i="0">
                <a:solidFill>
                  <a:srgbClr val="202A35"/>
                </a:solidFill>
                <a:latin typeface="Aptos"/>
              </a:defRPr>
            </a:pPr>
            <a:r>
              <a:t>Employee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651760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248B7D"/>
                </a:solidFill>
                <a:latin typeface="Aptos"/>
              </a:defRPr>
            </a:pPr>
            <a:r>
              <a:t>/47fto0gim6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50" b="1" i="0">
                <a:solidFill>
                  <a:srgbClr val="202A35"/>
                </a:solidFill>
                <a:latin typeface="Aptos"/>
              </a:defRPr>
            </a:pPr>
            <a:r>
              <a:t>Pharmacy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127248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248B7D"/>
                </a:solidFill>
                <a:latin typeface="Aptos"/>
              </a:defRPr>
            </a:pPr>
            <a:r>
              <a:t>/tz8lc2ct4y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02736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50" b="1" i="0">
                <a:solidFill>
                  <a:srgbClr val="202A35"/>
                </a:solidFill>
                <a:latin typeface="Aptos"/>
              </a:defRPr>
            </a:pPr>
            <a:r>
              <a:t>Billing / IT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602736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030" b="1" i="0">
                <a:solidFill>
                  <a:srgbClr val="248B7D"/>
                </a:solidFill>
                <a:latin typeface="Aptos"/>
              </a:defRPr>
            </a:pPr>
            <a:r>
              <a:t>/jszdttqedv  •  /51qx617jve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133087"/>
            <a:ext cx="4754880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4370832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Before sending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36592"/>
            <a:ext cx="4709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65717D"/>
                </a:solidFill>
                <a:latin typeface="Aptos"/>
              </a:defRPr>
            </a:pPr>
            <a:r>
              <a:t>Check site details, role coverage, date/time, and unsaved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874519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148840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76232E"/>
                </a:solidFill>
                <a:latin typeface="Aptos"/>
              </a:defRPr>
            </a:pPr>
            <a:r>
              <a:t>STOCK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651760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50" b="1" i="0">
                <a:solidFill>
                  <a:srgbClr val="202A35"/>
                </a:solidFill>
                <a:latin typeface="Aptos"/>
              </a:defRPr>
            </a:pPr>
            <a:r>
              <a:t>Employee ordering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651760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76232E"/>
                </a:solidFill>
                <a:latin typeface="Aptos"/>
              </a:defRPr>
            </a:pPr>
            <a:r>
              <a:t>/w6n3d8ycrq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127248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250" b="1" i="0">
                <a:solidFill>
                  <a:srgbClr val="202A35"/>
                </a:solidFill>
                <a:latin typeface="Aptos"/>
              </a:defRPr>
            </a:pPr>
            <a:r>
              <a:t>Stock request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127248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76232E"/>
                </a:solidFill>
                <a:latin typeface="Aptos"/>
              </a:defRPr>
            </a:pPr>
            <a:r>
              <a:t>/h9b4t2zvfe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19672" y="3611880"/>
            <a:ext cx="4754880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19672" y="3831336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Before activation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187952"/>
            <a:ext cx="46634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65717D"/>
                </a:solidFill>
                <a:latin typeface="Aptos"/>
              </a:defRPr>
            </a:pPr>
            <a:r>
              <a:t>Confirm employee days and cutoff. An unset employee schedule allows all weekdays.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864608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202A35"/>
                </a:solidFill>
                <a:latin typeface="Aptos"/>
              </a:defRPr>
            </a:pPr>
            <a:r>
              <a:t>Before 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5193792"/>
            <a:ext cx="46634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1120" b="0" i="0">
                <a:solidFill>
                  <a:srgbClr val="65717D"/>
                </a:solidFill>
                <a:latin typeface="Aptos"/>
              </a:defRPr>
            </a:pPr>
            <a:r>
              <a:t>Use Unclose order only with a future cutoff; verify SR# statuses return to Pending.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D9D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28816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200"/>
              </a:spcAft>
              <a:defRPr sz="850" b="1" i="0">
                <a:solidFill>
                  <a:srgbClr val="65717D"/>
                </a:solidFill>
                <a:latin typeface="Aptos"/>
              </a:defRPr>
            </a:pPr>
            <a:r>
              <a:t>PLANET DRUGSTORE  /  OPERATIONS WALKTHROUGH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37392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200"/>
              </a:spcAft>
              <a:defRPr sz="900" b="1" i="0">
                <a:solidFill>
                  <a:srgbClr val="76232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Scheduling &amp; Stock Ordering</dc:title>
  <dc:subject>Operational walkthrough for Planet Drugstore</dc:subject>
  <dc:creator>Planet Drugstore</dc:creator>
  <cp:keywords>event scheduling, deployment roster, stock request, SR#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